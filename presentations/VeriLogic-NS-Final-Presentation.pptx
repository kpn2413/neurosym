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ea86f6a1904883" /><Relationship Type="http://schemas.openxmlformats.org/officeDocument/2006/relationships/extended-properties" Target="/docProps/app.xml" Id="Ra324db5b11d642e8" /><Relationship Type="http://schemas.openxmlformats.org/officeDocument/2006/relationships/officeDocument" Target="/ppt/presentation.xml" Id="Rf783c98a24e540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018ffce8234a9d"/>
  </p:sldMasterIdLst>
  <p:notesMasterIdLst>
    <p:notesMasterId xmlns:r="http://schemas.openxmlformats.org/officeDocument/2006/relationships" r:id="R2d760c7a6a8d45c2"/>
  </p:notesMasterIdLst>
  <p:sldIdLst>
    <p:sldId xmlns:r="http://schemas.openxmlformats.org/officeDocument/2006/relationships" id="256" r:id="Re9e49fe13bbc44a8"/>
    <p:sldId xmlns:r="http://schemas.openxmlformats.org/officeDocument/2006/relationships" id="257" r:id="Rb1722655c0a74e2f"/>
    <p:sldId xmlns:r="http://schemas.openxmlformats.org/officeDocument/2006/relationships" id="258" r:id="R43c4cbb1bd534df2"/>
    <p:sldId xmlns:r="http://schemas.openxmlformats.org/officeDocument/2006/relationships" id="259" r:id="R65813a8b3ea74fc0"/>
    <p:sldId xmlns:r="http://schemas.openxmlformats.org/officeDocument/2006/relationships" id="260" r:id="R4cf96c6e6e3141b9"/>
    <p:sldId xmlns:r="http://schemas.openxmlformats.org/officeDocument/2006/relationships" id="261" r:id="Rc998c819afc6471d"/>
    <p:sldId xmlns:r="http://schemas.openxmlformats.org/officeDocument/2006/relationships" id="262" r:id="R299d7b060313474d"/>
    <p:sldId xmlns:r="http://schemas.openxmlformats.org/officeDocument/2006/relationships" id="263" r:id="Rc1e44e4aa0cb48f4"/>
    <p:sldId xmlns:r="http://schemas.openxmlformats.org/officeDocument/2006/relationships" id="264" r:id="R829adcac9e514338"/>
    <p:sldId xmlns:r="http://schemas.openxmlformats.org/officeDocument/2006/relationships" id="265" r:id="Ra11621cf5026459b"/>
    <p:sldId xmlns:r="http://schemas.openxmlformats.org/officeDocument/2006/relationships" id="266" r:id="R72e6cc62483944ce"/>
    <p:sldId xmlns:r="http://schemas.openxmlformats.org/officeDocument/2006/relationships" id="267" r:id="R69ee4653381e4e77"/>
    <p:sldId xmlns:r="http://schemas.openxmlformats.org/officeDocument/2006/relationships" id="268" r:id="R4ed55016c7ed4829"/>
    <p:sldId xmlns:r="http://schemas.openxmlformats.org/officeDocument/2006/relationships" id="269" r:id="R2d247bb1bbc14f06"/>
    <p:sldId xmlns:r="http://schemas.openxmlformats.org/officeDocument/2006/relationships" id="270" r:id="Rf4044d5fee034011"/>
    <p:sldId xmlns:r="http://schemas.openxmlformats.org/officeDocument/2006/relationships" id="271" r:id="Red5ce12d189d482f"/>
    <p:sldId xmlns:r="http://schemas.openxmlformats.org/officeDocument/2006/relationships" id="272" r:id="R65fff17840b34e18"/>
    <p:sldId xmlns:r="http://schemas.openxmlformats.org/officeDocument/2006/relationships" id="273" r:id="R179b43f7413c4f02"/>
    <p:sldId xmlns:r="http://schemas.openxmlformats.org/officeDocument/2006/relationships" id="274" r:id="R72082ba12ba546f5"/>
    <p:sldId xmlns:r="http://schemas.openxmlformats.org/officeDocument/2006/relationships" id="275" r:id="R4175bf389ede4f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9a3da6546e4812" /><Relationship Type="http://schemas.openxmlformats.org/officeDocument/2006/relationships/slideMaster" Target="/ppt/slideMasters/slideMaster1.xml" Id="R3f018ffce8234a9d" /><Relationship Type="http://schemas.openxmlformats.org/officeDocument/2006/relationships/notesMaster" Target="/ppt/notesMasters/notesMaster1.xml" Id="R2d760c7a6a8d45c2" /><Relationship Type="http://schemas.openxmlformats.org/officeDocument/2006/relationships/presProps" Target="/ppt/presProps.xml" Id="R6c3f81f277ba46ba" /><Relationship Type="http://schemas.openxmlformats.org/officeDocument/2006/relationships/tableStyles" Target="/ppt/tableStyles.xml" Id="R6605e058184f4aff" /><Relationship Type="http://schemas.openxmlformats.org/officeDocument/2006/relationships/slide" Target="/ppt/slides/slide1.xml" Id="Re9e49fe13bbc44a8" /><Relationship Type="http://schemas.openxmlformats.org/officeDocument/2006/relationships/slide" Target="/ppt/slides/slide2.xml" Id="Rb1722655c0a74e2f" /><Relationship Type="http://schemas.openxmlformats.org/officeDocument/2006/relationships/slide" Target="/ppt/slides/slide3.xml" Id="R43c4cbb1bd534df2" /><Relationship Type="http://schemas.openxmlformats.org/officeDocument/2006/relationships/slide" Target="/ppt/slides/slide4.xml" Id="R65813a8b3ea74fc0" /><Relationship Type="http://schemas.openxmlformats.org/officeDocument/2006/relationships/slide" Target="/ppt/slides/slide5.xml" Id="R4cf96c6e6e3141b9" /><Relationship Type="http://schemas.openxmlformats.org/officeDocument/2006/relationships/slide" Target="/ppt/slides/slide6.xml" Id="Rc998c819afc6471d" /><Relationship Type="http://schemas.openxmlformats.org/officeDocument/2006/relationships/slide" Target="/ppt/slides/slide7.xml" Id="R299d7b060313474d" /><Relationship Type="http://schemas.openxmlformats.org/officeDocument/2006/relationships/slide" Target="/ppt/slides/slide8.xml" Id="Rc1e44e4aa0cb48f4" /><Relationship Type="http://schemas.openxmlformats.org/officeDocument/2006/relationships/slide" Target="/ppt/slides/slide9.xml" Id="R829adcac9e514338" /><Relationship Type="http://schemas.openxmlformats.org/officeDocument/2006/relationships/slide" Target="/ppt/slides/slide10.xml" Id="Ra11621cf5026459b" /><Relationship Type="http://schemas.openxmlformats.org/officeDocument/2006/relationships/slide" Target="/ppt/slides/slide11.xml" Id="R72e6cc62483944ce" /><Relationship Type="http://schemas.openxmlformats.org/officeDocument/2006/relationships/slide" Target="/ppt/slides/slide12.xml" Id="R69ee4653381e4e77" /><Relationship Type="http://schemas.openxmlformats.org/officeDocument/2006/relationships/slide" Target="/ppt/slides/slide13.xml" Id="R4ed55016c7ed4829" /><Relationship Type="http://schemas.openxmlformats.org/officeDocument/2006/relationships/slide" Target="/ppt/slides/slide14.xml" Id="R2d247bb1bbc14f06" /><Relationship Type="http://schemas.openxmlformats.org/officeDocument/2006/relationships/slide" Target="/ppt/slides/slide15.xml" Id="Rf4044d5fee034011" /><Relationship Type="http://schemas.openxmlformats.org/officeDocument/2006/relationships/slide" Target="/ppt/slides/slide16.xml" Id="Red5ce12d189d482f" /><Relationship Type="http://schemas.openxmlformats.org/officeDocument/2006/relationships/slide" Target="/ppt/slides/slide17.xml" Id="R65fff17840b34e18" /><Relationship Type="http://schemas.openxmlformats.org/officeDocument/2006/relationships/slide" Target="/ppt/slides/slide18.xml" Id="R179b43f7413c4f02" /><Relationship Type="http://schemas.openxmlformats.org/officeDocument/2006/relationships/slide" Target="/ppt/slides/slide19.xml" Id="R72082ba12ba546f5" /><Relationship Type="http://schemas.openxmlformats.org/officeDocument/2006/relationships/slide" Target="/ppt/slides/slide20.xml" Id="R4175bf389ede4f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ba45a605e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558239ba448f5" /><Relationship Type="http://schemas.openxmlformats.org/officeDocument/2006/relationships/notesMaster" Target="/ppt/notesMasters/notesMaster1.xml" Id="R326faa360d57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8b7a65edb44e0f" /><Relationship Type="http://schemas.openxmlformats.org/officeDocument/2006/relationships/notesMaster" Target="/ppt/notesMasters/notesMaster1.xml" Id="R0502bdf56a4f4e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00c95cb5074190" /><Relationship Type="http://schemas.openxmlformats.org/officeDocument/2006/relationships/notesMaster" Target="/ppt/notesMasters/notesMaster1.xml" Id="R82b9021b29904b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c2c6ada2b94422" /><Relationship Type="http://schemas.openxmlformats.org/officeDocument/2006/relationships/notesMaster" Target="/ppt/notesMasters/notesMaster1.xml" Id="R86ba07c6ba894c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3801de1e03436d" /><Relationship Type="http://schemas.openxmlformats.org/officeDocument/2006/relationships/notesMaster" Target="/ppt/notesMasters/notesMaster1.xml" Id="R17d89e7cf5a3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33ede41b0f4ffd" /><Relationship Type="http://schemas.openxmlformats.org/officeDocument/2006/relationships/notesMaster" Target="/ppt/notesMasters/notesMaster1.xml" Id="Rdac5c9659db642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4a7da54a2f42fb" /><Relationship Type="http://schemas.openxmlformats.org/officeDocument/2006/relationships/notesMaster" Target="/ppt/notesMasters/notesMaster1.xml" Id="R3714334c66d44e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afa6123e4f47f7" /><Relationship Type="http://schemas.openxmlformats.org/officeDocument/2006/relationships/notesMaster" Target="/ppt/notesMasters/notesMaster1.xml" Id="R90b805f75fba49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52c2da79254ee3" /><Relationship Type="http://schemas.openxmlformats.org/officeDocument/2006/relationships/notesMaster" Target="/ppt/notesMasters/notesMaster1.xml" Id="R75a4caf507db4d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3e2bb632284b1f" /><Relationship Type="http://schemas.openxmlformats.org/officeDocument/2006/relationships/notesMaster" Target="/ppt/notesMasters/notesMaster1.xml" Id="R7b62e29881d54d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07afafaad5470b" /><Relationship Type="http://schemas.openxmlformats.org/officeDocument/2006/relationships/notesMaster" Target="/ppt/notesMasters/notesMaster1.xml" Id="R74ab1891398545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045da6ae73407b" /><Relationship Type="http://schemas.openxmlformats.org/officeDocument/2006/relationships/notesMaster" Target="/ppt/notesMasters/notesMaster1.xml" Id="Rf8355179b8cb4e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23cf4785bf45a8" /><Relationship Type="http://schemas.openxmlformats.org/officeDocument/2006/relationships/notesMaster" Target="/ppt/notesMasters/notesMaster1.xml" Id="Refd061efd64f43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be75f01c654a5c" /><Relationship Type="http://schemas.openxmlformats.org/officeDocument/2006/relationships/notesMaster" Target="/ppt/notesMasters/notesMaster1.xml" Id="R213060eb3fdc45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2f361cc61c4bfb" /><Relationship Type="http://schemas.openxmlformats.org/officeDocument/2006/relationships/notesMaster" Target="/ppt/notesMasters/notesMaster1.xml" Id="R46fb7ba65de141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f2d04defd2438d" /><Relationship Type="http://schemas.openxmlformats.org/officeDocument/2006/relationships/notesMaster" Target="/ppt/notesMasters/notesMaster1.xml" Id="R668a0f23cac040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9db72b1f744a62" /><Relationship Type="http://schemas.openxmlformats.org/officeDocument/2006/relationships/notesMaster" Target="/ppt/notesMasters/notesMaster1.xml" Id="R3b20d543913244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470717316e497f" /><Relationship Type="http://schemas.openxmlformats.org/officeDocument/2006/relationships/notesMaster" Target="/ppt/notesMasters/notesMaster1.xml" Id="Rde26d740dad44d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d5b02c21fe4a1c" /><Relationship Type="http://schemas.openxmlformats.org/officeDocument/2006/relationships/notesMaster" Target="/ppt/notesMasters/notesMaster1.xml" Id="R017d8d7eb0c249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6860890a59405a" /><Relationship Type="http://schemas.openxmlformats.org/officeDocument/2006/relationships/notesMaster" Target="/ppt/notesMasters/notesMaster1.xml" Id="Rc72b9c4cab634f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 between fluent language and verifiable entailment. The system verifies conclusions relative to supplied premises; it does not prove those premises are factually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docs/PROJECT_CHARTER.md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project is not a new ChatGPT. It is a research framework around an existing local model and a deterministic solver.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docs/FINAL_REPORT.md#1-problem-statement</a:t>
            </a:r>
          </a:p>
          <a:p xmlns:a="http://schemas.openxmlformats.org/drawingml/2006/main">
            <a:r>
              <a:t>-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design choice is authority: the language model is never the final logical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docs/DECISIONS.md#d-001-separate-semantic-parsing-from-reasoning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scope bounded. The project evaluates a research prototype, not a universal reasoning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docs/PROJECT_CHARTER.md</a:t>
            </a:r>
          </a:p>
          <a:p xmlns:a="http://schemas.openxmlformats.org/drawingml/2006/main">
            <a:r>
              <a:t>- docs/FINAL_REPORT.md#2-objectives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Emphasize that raw natural language and model output remain untrusted until the complete AST contract passes.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docs/END_TO_END_PIPELINE.md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central negative finding. The small local model often failed before the deterministic reasoner could 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docs/PHASE9_VERIFICATION.md</a:t>
            </a:r>
          </a:p>
          <a:p xmlns:a="http://schemas.openxmlformats.org/drawingml/2006/main">
            <a:r>
              <a:t>- docs/FINAL_REPORT.md#6-neural-semantic-parsing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simple example verbally if needed: human(Socrates) plus human(x)→mortal(x) derives mortal(Socrates).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docs/SYMBOLIC_ENGINE.md</a:t>
            </a:r>
          </a:p>
          <a:p xmlns:a="http://schemas.openxmlformats.org/drawingml/2006/main">
            <a:r>
              <a:t>- docs/LOGIC_SPECIFICATION.md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semantics before the metrics. Three terminal cache/correction failures remained errors; they were never rewritten as unknown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docs/ABSTENTION_POLICY.md</a:t>
            </a:r>
          </a:p>
          <a:p xmlns:a="http://schemas.openxmlformats.org/drawingml/2006/main">
            <a:r>
              <a:t>- docs/PHASE9_VERIFICATION.md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proof verifier is separately implemented; it does not trust the producer or model prose. The displayed explanation is derived from proof nodes.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docs/PROOF_FORMAT.md</a:t>
            </a:r>
          </a:p>
          <a:p xmlns:a="http://schemas.openxmlformats.org/drawingml/2006/main">
            <a:r>
              <a:t>- docs/END_TO_END_PIPELINE.md</a:t>
            </a:r>
          </a:p>
          <a:p xmlns:a="http://schemas.openxmlformats.org/drawingml/2006/main">
            <a:r>
              <a:t>- docs/PHASE9_VERIFICATION.md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screenshots are fabricated in this deck. During the live demo, show the actual workbench and research dashboard.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docs/RESEARCH_FRONTEND.md</a:t>
            </a:r>
          </a:p>
          <a:p xmlns:a="http://schemas.openxmlformats.org/drawingml/2006/main">
            <a:r>
              <a:t>- docs/FINAL_DEMO_GUIDE.md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sample is balanced by depth and label, but n=30 is still too small for generalization or significance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docs/PHASE9_VERIFICATION.md</a:t>
            </a:r>
          </a:p>
          <a:p xmlns:a="http://schemas.openxmlformats.org/drawingml/2006/main">
            <a:r>
              <a:t>- experiments/manifests/phase9-recovery-freeze.v1.json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prevent category errors before showing results. The formal oracle answers a component question, not the end-to-end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docs/EXPERIMENT_PROTOCOL.md</a:t>
            </a:r>
          </a:p>
          <a:p xmlns:a="http://schemas.openxmlformats.org/drawingml/2006/main">
            <a:r>
              <a:t>- research/evidence/phase10-final-evidence.v1.json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| 16/30. Few-shot | 16/30. P0 raw neuro-symbolic | 4/30. P2 selective | 1/30. Formal symbolic oracle ceiling | 30/30. Emphasize denominators.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research/evidence/phase10-final-evidence.v1.json</a:t>
            </a:r>
          </a:p>
          <a:p xmlns:a="http://schemas.openxmlformats.org/drawingml/2006/main">
            <a:r>
              <a:t>- docs/PHASE9_VERIFICATION.md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equal 16/30 Direct and Few-shot totals hide four changed individual outcomes. Validation changes failure semantics, not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research/evidence/phase10-final-evidence.v1.json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deck's key interpretation. The end-to-end system underperforms because most examples never cross the trusted AST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docs/PHASE9_VERIFICATION.md</a:t>
            </a:r>
          </a:p>
          <a:p xmlns:a="http://schemas.openxmlformats.org/drawingml/2006/main">
            <a:r>
              <a:t>- docs/FINAL_REPORT.md#15-phase-9-results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label exactly: same-selection, different-representation formal symbolic ceiling. The 29 oracle-only correct records do not imply P2 could recover them without better parsing.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research/evidence/phase10-final-evidence.v1.json</a:t>
            </a:r>
          </a:p>
          <a:p xmlns:a="http://schemas.openxmlformats.org/drawingml/2006/main">
            <a:r>
              <a:t>- docs/PHASE9_VERIFICATION.md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P1/P2 exact token totals are unavailable. The lower-bound figures are partial observations. Replay verifies identity, not the ability to regenerate nondeterministic model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docs/PHASE9_VERIFICATION.md</a:t>
            </a:r>
          </a:p>
          <a:p xmlns:a="http://schemas.openxmlformats.org/drawingml/2006/main">
            <a:r>
              <a:t>- research/evidence/phase10-final-evidence.v1.json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demo, run the formal preset and show the actual proof/explanation. Docker is not installed on the verification host, so do not claim container runtime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docs/DEPLOYMENT_GUIDE.md</a:t>
            </a:r>
          </a:p>
          <a:p xmlns:a="http://schemas.openxmlformats.org/drawingml/2006/main">
            <a:r>
              <a:t>- docs/FINAL_DEMO_GUIDE.md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soften these limits. They define what can and cannot be concluded from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docs/FINAL_REPORT.md#20-limitations</a:t>
            </a:r>
          </a:p>
          <a:p xmlns:a="http://schemas.openxmlformats.org/drawingml/2006/main">
            <a:r>
              <a:t>- research/evidence/phase10-final-evidence.v1.json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problem: fluent output is not enough. VeriLogic-NS makes logical authority and failure behavior inspectable. Future work needs a newly frozen protocol; do not imply a Phase 11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docs/FINAL_REPORT.md#22-conclusion</a:t>
            </a:r>
          </a:p>
          <a:p xmlns:a="http://schemas.openxmlformats.org/drawingml/2006/main">
            <a:r>
              <a:t>- docs/PHASE_PLAN.md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9e7d066ff43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88d89a3ff2412f" /><Relationship Type="http://schemas.openxmlformats.org/officeDocument/2006/relationships/slideLayout" Target="/ppt/slideLayouts/slideLayout1.xml" Id="Ra03e00a614b547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3e00a614b547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197d64d344052" /><Relationship Type="http://schemas.openxmlformats.org/officeDocument/2006/relationships/notesSlide" Target="/ppt/notesSlides/notesSlide1.xml" Id="R5aff0ba28594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ec9f058ec4e15" /><Relationship Type="http://schemas.openxmlformats.org/officeDocument/2006/relationships/notesSlide" Target="/ppt/notesSlides/notesSlide2.xml" Id="R45f86b50caf249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7e775812499e" /><Relationship Type="http://schemas.openxmlformats.org/officeDocument/2006/relationships/notesSlide" Target="/ppt/notesSlides/notesSlide3.xml" Id="R376328f6d90a46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e7f516bd34bce" /><Relationship Type="http://schemas.openxmlformats.org/officeDocument/2006/relationships/notesSlide" Target="/ppt/notesSlides/notesSlide4.xml" Id="Re50c5d2e1f7a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6adc1eefb4cb4" /><Relationship Type="http://schemas.openxmlformats.org/officeDocument/2006/relationships/notesSlide" Target="/ppt/notesSlides/notesSlide5.xml" Id="R26bd58146cb549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1be6f43d542ba" /><Relationship Type="http://schemas.openxmlformats.org/officeDocument/2006/relationships/notesSlide" Target="/ppt/notesSlides/notesSlide6.xml" Id="Rb4754ae75d9c40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cee07095347cf" /><Relationship Type="http://schemas.openxmlformats.org/officeDocument/2006/relationships/notesSlide" Target="/ppt/notesSlides/notesSlide7.xml" Id="R8b28ad86a2e546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23fff2b204d19" /><Relationship Type="http://schemas.openxmlformats.org/officeDocument/2006/relationships/notesSlide" Target="/ppt/notesSlides/notesSlide8.xml" Id="R205135de2c8849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b028fc18741b8" /><Relationship Type="http://schemas.openxmlformats.org/officeDocument/2006/relationships/notesSlide" Target="/ppt/notesSlides/notesSlide9.xml" Id="R161225cf66d341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5e1eba9734de5" /><Relationship Type="http://schemas.openxmlformats.org/officeDocument/2006/relationships/notesSlide" Target="/ppt/notesSlides/notesSlide10.xml" Id="R06a2b26127dd42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2889176044786" /><Relationship Type="http://schemas.openxmlformats.org/officeDocument/2006/relationships/notesSlide" Target="/ppt/notesSlides/notesSlide11.xml" Id="R2ba057d6ed8e4e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089c896b54ce5" /><Relationship Type="http://schemas.openxmlformats.org/officeDocument/2006/relationships/notesSlide" Target="/ppt/notesSlides/notesSlide12.xml" Id="R83e2e2117fd145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0cba351584b32" /><Relationship Type="http://schemas.openxmlformats.org/officeDocument/2006/relationships/notesSlide" Target="/ppt/notesSlides/notesSlide13.xml" Id="R5ecddbb2294c43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1f0bd6b6a409e" /><Relationship Type="http://schemas.openxmlformats.org/officeDocument/2006/relationships/notesSlide" Target="/ppt/notesSlides/notesSlide14.xml" Id="R652c3f039a534f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e209f11f6480e" /><Relationship Type="http://schemas.openxmlformats.org/officeDocument/2006/relationships/notesSlide" Target="/ppt/notesSlides/notesSlide15.xml" Id="R048fc09f598845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aa46603ff4a0c" /><Relationship Type="http://schemas.openxmlformats.org/officeDocument/2006/relationships/notesSlide" Target="/ppt/notesSlides/notesSlide16.xml" Id="Rb9e143e658744d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f216478f948fd" /><Relationship Type="http://schemas.openxmlformats.org/officeDocument/2006/relationships/notesSlide" Target="/ppt/notesSlides/notesSlide17.xml" Id="R1f1df8f46f8f49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97a4bb2f643a2" /><Relationship Type="http://schemas.openxmlformats.org/officeDocument/2006/relationships/notesSlide" Target="/ppt/notesSlides/notesSlide18.xml" Id="Rcfe552e8ae2549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800d13f1c4324" /><Relationship Type="http://schemas.openxmlformats.org/officeDocument/2006/relationships/notesSlide" Target="/ppt/notesSlides/notesSlide19.xml" Id="R025050aabb9541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86dd91bc24c82" /><Relationship Type="http://schemas.openxmlformats.org/officeDocument/2006/relationships/notesSlide" Target="/ppt/notesSlides/notesSlide20.xml" Id="R595994322ee848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E155D-31D9-4172-BCA9-12D5AE2E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CAPSTONE PROJECT · FINAL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E4209-0F27-4094-9D86-35B3BC2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81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VeriLogic-NS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F89D9-B0CB-43C3-B695-2A792CA9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Verifiable reasoning with a local neuro-symbolic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4DE91-1293-4379-A711-8F0DD70D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70F3B-459B-497E-8BAF-2122D1A0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Neural interpretation.</a:t>
            </a:r>
          </a:p>
          <a:p xmlns:a="http://schemas.openxmlformats.org/drawingml/2006/main">
            <a:pPr algn="l">
              <a:defRPr sz="16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Deterministic reasoning.</a:t>
            </a:r>
          </a:p>
          <a:p xmlns:a="http://schemas.openxmlformats.org/drawingml/2006/main">
            <a:pPr algn="l">
              <a:defRPr sz="16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Independently verified proofs.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3AF62-31F8-4EF8-8CF0-895CC0ED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290190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0234C-62AC-44B4-A46F-E1EB6849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8323B-FDAE-4D1C-AF86-6A7379CB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Fluent answers can hide unsupported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A569B-511B-4820-BDC8-F48F702D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C89B5-3CF4-4E3C-A0E0-A6A70103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048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78430-334A-42FB-8127-C4054DED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A language model can…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6F872-D1A7-4C40-955C-076448C7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A3BF2-4C3D-4029-9F34-4E149468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394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sound certain without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EC2F0-4AA9-4C8A-8137-23C88165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47C01-AE20-47DD-A570-A322B470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394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confuse missing evidence with contradiction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BBFCA-8B03-4B08-B716-4F4076CE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CE83F-2D8E-4175-A4F5-D26E3C2F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394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write a plausible explanation after deciding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00BAB-C917-493E-B09C-7D86CEEE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What the project requires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E0659-AE76-4EDB-AD5A-8F024DDC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 decision that can be checked against explicit premises, rules, and a replayable proof.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3D971-6A30-4A17-A6D9-3C317C47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Core question: can a bounded neuro-symbolic pipeline be more auditable and safer when it fails?</a:t>
            </a:r>
          </a:p>
        </p:txBody>
      </p:sp>
    </p:spTree>
    <p:extLst>
      <p:ext uri="{BB962C8B-B14F-4D97-AF65-F5344CB8AC3E}">
        <p14:creationId xmlns:p14="http://schemas.microsoft.com/office/powerpoint/2010/main" val="737866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7CAD8-DD46-497A-B19F-6933710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11CF-288F-4693-8A80-6EA6B5F2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Neither neural nor symbolic reasoning is enough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D48A8-0A8C-46A4-9482-84DA8C3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07DF7-7253-4640-A664-BF383CAF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1F98D-A3DD-4068-9368-7FF52BE9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54423-F479-450A-8650-AF057384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57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Understands controlled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Handles paraphrase and surface variation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Can mistranslate meaning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55DF0-EBD2-4808-BAB2-5B1C028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F553E-923A-4FDD-B39D-8CF3A200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33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2D0C6-8ADF-40F2-A5B3-56D8137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257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Typed AST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Source and arity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Fail closed on 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801F5-C93D-4AEA-AF20-E46C7495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6F8BD-0F64-42DA-92D3-14AAA136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33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Symbolic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E0078-5112-4755-90A6-7EBF7787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57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Applies explicit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Returns four-way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Produces replayable proofs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AC00E-0F39-46B8-A51A-6D3E2B86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The LLM proposes a representation; the validated solver owns entailment.</a:t>
            </a:r>
          </a:p>
        </p:txBody>
      </p:sp>
    </p:spTree>
    <p:extLst>
      <p:ext uri="{BB962C8B-B14F-4D97-AF65-F5344CB8AC3E}">
        <p14:creationId xmlns:p14="http://schemas.microsoft.com/office/powerpoint/2010/main" val="19514915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AAFFE-FA29-4551-8BEF-3A27880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B2F28-499E-4B0F-9ED8-DCA582BA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Six concrete goals shaped the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47CFC-71B4-439F-BABC-036B102D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77E8-9D4B-4376-A844-747D7F72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9E0A5-FB4F-480C-A89F-7C3CBCAC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Restricted 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98C49-2DDA-4FDF-9FD7-51A7D7D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Non-executable, versioned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E3041-1E94-4039-9D81-75CD9E1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AD3D9-BB3D-47F2-9FC2-860E5FB6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Deterministic 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C3637-3A32-4BD6-8FCD-799DEDFB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Entailed, contradicted, unknown, inconsistent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F6A46-66CA-42BB-B46F-D531A05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52EAC-CE64-4E07-92F0-AF7848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86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Explicit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C8BE3-97FF-4E4C-93A9-E54E77B6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861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Unknown ≠ abstain ≠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23ADB-7AFE-4443-BE39-DD68C538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34D29-91D8-40DA-B14A-D3B769FA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86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Verified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19522-FFB9-424B-A818-45FD340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861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Source-linked and independently replayed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E9EF0-8315-4308-86A1-37845F70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E5171-3597-446C-AAE2-5A3D2D5C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9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Reproducible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00ABB-C160-4968-8762-034040A4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Frozen manifests, hashes, cache replay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61104-E860-4D5F-973B-0E94869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96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3F679-DCCD-4A23-859B-2F0939B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9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Usable research tool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B036E-FE1E-468F-8C96-E2BA8ADF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9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API, workbench, dashboard, exports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C8962-1632-45E5-8504-9F7DFAB0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Out of scope: unrestricted logic, factual truth guarantees, public multi-user production.</a:t>
            </a:r>
          </a:p>
        </p:txBody>
      </p:sp>
    </p:spTree>
    <p:extLst>
      <p:ext uri="{BB962C8B-B14F-4D97-AF65-F5344CB8AC3E}">
        <p14:creationId xmlns:p14="http://schemas.microsoft.com/office/powerpoint/2010/main" val="7403194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8EC4-15D0-45E2-ABD8-310C79C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268C2-449A-4D97-9708-0B4D8EB6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Trust increases as data moves from language to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F9E8D-DDAE-4572-8404-6758B6ED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857375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371475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5572125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42950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9286875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BFFC1-92E8-4C58-AF24-77F2AAA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4A8A3-E114-421A-B72D-3863E546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A2100-DE93-49ED-B239-0B258D8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facts · rules ·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FFDDD-87B8-451C-9551-2579CEFD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7175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1046E-8837-4666-AA60-2633B4D0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0035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E39D-3632-4875-A76D-C1436564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0517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gold-free local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6D9EF-96B0-443A-8676-E7EAA1EC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65115-1BB0-4979-BA1F-FFADAB2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Typed AST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A86C4-9446-49E2-A6FA-2450475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0517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restricted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FF64F-0603-4998-AA7A-1EBBCBAA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7175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3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9B4A6-9B96-47B5-8CC2-B874FB5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0035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CE9CD-865C-48B5-9ABB-DABABD93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30517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correct or 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389F34-3473-4EF4-9939-3DD36E1F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B76F9-1B83-410C-A8DF-28BAD40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Reasoner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B8B4C4-376D-4FDA-93E0-B88ECDA8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0517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least fixed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FDF6C-382C-45A8-BC1E-172B3BBC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71750"/>
            <a:ext cx="13811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A4FAC-41EE-4F42-8CEF-3D00AC17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80035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31596-EDCA-40FD-A5C7-E432C1B4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305175"/>
            <a:ext cx="1114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verify + explain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4BDE1B-CCA6-4AFA-B1BD-025B7FF7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UNTRUSTED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92768-377A-4861-BDBB-EE79F1E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86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VALIDATED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B4089-5C21-475D-A48E-D5FD671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DETERMINISTIC + AUDITABLE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27EBB-F073-48E2-A851-B2E7BBFB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Formal AST mode starts at the validated boundary and makes zero model calls.</a:t>
            </a:r>
          </a:p>
        </p:txBody>
      </p:sp>
    </p:spTree>
    <p:extLst>
      <p:ext uri="{BB962C8B-B14F-4D97-AF65-F5344CB8AC3E}">
        <p14:creationId xmlns:p14="http://schemas.microsoft.com/office/powerpoint/2010/main" val="20674878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160B6-C17B-4906-9DBD-4062BBEB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NEURAL SEMANTIC PARSER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2C257-32A5-459D-8B4A-DFB7C112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local 4B model is the bottleneck—not the solver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66D75-82C6-4447-8560-49810E00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E91E1-4280-48F0-97BB-96F533D0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8362B-E923-4EFA-A29B-DD4EDC64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055E7-EF55-4FF7-8F10-2DF12F31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431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development 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8E5B9-3949-416A-9672-0BBD0B2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90875"/>
            <a:ext cx="495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AD150-551B-4295-8252-39922225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A51E1-CB85-4DF0-9FAD-19FD67F6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3852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valid complete formalizations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C03F4-07F1-44F9-A111-F7882CBA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86250"/>
            <a:ext cx="3333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17443-70E7-444A-9A9E-8117AC11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4481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9FEFF-B3F1-4B96-A4B0-10B0201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339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correct end-to-end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F5C3C-206B-4F32-A09E-5A35F839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E6A42-E998-4101-814A-02C6FD54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semantic-invalid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F3241-B7A0-4BF9-969E-42926A29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B96A2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96A2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A266A-64D5-42C5-993B-C95E012E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incomplete source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FBDA8-94FC-452A-B7BB-23AA90A7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3625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5D77F-99DA-46FE-B8D1-EB57C9E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structured-output failures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8F5B0-4CBE-4BEC-99A8-6164CC4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Exact theory match 1/30 · exact query match 3/30 · errors fail closed</a:t>
            </a:r>
          </a:p>
        </p:txBody>
      </p:sp>
    </p:spTree>
    <p:extLst>
      <p:ext uri="{BB962C8B-B14F-4D97-AF65-F5344CB8AC3E}">
        <p14:creationId xmlns:p14="http://schemas.microsoft.com/office/powerpoint/2010/main" val="11133983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E6D96-8207-42DC-A7D9-11EAF6E8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SYMBOLIC REASONER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5BACF-CBDE-4F93-BE65-9E364F5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26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A small logic fragment gives deterministic, replayable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684FB-E439-439B-A016-7A0C9FCF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C0613-5B2C-42A2-91F7-069D87ED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ENTAILED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40CC0-60B7-476F-A1DF-FB089197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query derivable; opposite absent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D05ED-DDB5-4B0F-B8D6-D3030AC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CONTRADICTED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F4AE9-C0D8-4F2A-B7FD-B09EE11C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38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opposite derivable; query absent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87A9A-929E-45E0-A89E-76BBF83D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3625D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9AF58-2F43-4E36-B04D-7BB79FE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neither polarity derivable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CACCC-2F16-4954-9262-80F3B163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6A2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96A22"/>
                </a:solidFill>
                <a:latin typeface="Arial"/>
                <a:ea typeface="Arial"/>
                <a:cs typeface="Arial"/>
              </a:rPr>
              <a:t>INCONSISTENT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41204-685D-453D-9927-EF92A98D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14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both polarities derivable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AE41C-EC58-481B-8A86-38CAA99C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714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6BEAE-2CD7-4092-82EB-FFB1C6F3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Reasoning 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70D9B-9BB9-4F15-A523-69FF410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58EFD-004D-437E-8B3C-FD202241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9527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finite least-fixpoint closure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C653E-4C1B-443B-9BD6-15122E4B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86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3089BC-47A9-4632-8FB5-CA332428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099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explicit positive and negative atoms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56433-4AEA-4AB1-9C5E-4A5376A1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43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BDE84F-0854-4BCB-AF75-598FD4EC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671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no contraposition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55C97-F3FB-4D6D-A400-253EB2C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00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582AE-0A24-4A06-B83B-E0226E16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243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no negation as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56C9C-E926-4945-A73C-81515A0E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E72DB-BA8B-4461-87C0-9CE446E4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7815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typed resource-limit failure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20641-DB54-43DA-9EB9-4AD54EDC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Open-world rule: missing evidence is never treated as contradiction.</a:t>
            </a:r>
          </a:p>
        </p:txBody>
      </p:sp>
    </p:spTree>
    <p:extLst>
      <p:ext uri="{BB962C8B-B14F-4D97-AF65-F5344CB8AC3E}">
        <p14:creationId xmlns:p14="http://schemas.microsoft.com/office/powerpoint/2010/main" val="6966684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059BC-E041-4AB6-A27C-E73EA46A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RELIABILITY POLICIES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04B09-39F7-4114-A194-A363831B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9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Each added gate changes what the system is willing to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B9AD4-B2D4-4614-9193-96CEEE39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CB1E6-ED65-4476-9CEA-BD5C0B05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C03D9-806A-4032-B041-F4B7A95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80049-2B24-4DF9-9C74-28127BE9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D526E-6CBB-4ABC-8AE2-38CDD14C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accept only raw candidates that validate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46E4D-3DF5-4944-AAFD-24EDA6FC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907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12309-60E3-4BF6-8895-28764A1D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288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6BA67-86DC-42A7-98A8-D9163978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43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E7F78-73C1-4474-8DCA-7EBCB9F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67125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convert invalid formalizations to abstention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6325C-1E4B-4343-874C-1AF750E4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9B202-4D4F-45C6-90EF-B4D1801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A5904-A169-4A7C-9B43-35179089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Corrected-valid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A7EDD-5E69-4BD6-8AEA-58518CA0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67125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one bounded correction + full revalidation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7FC47-35DF-4564-BF94-03DBA8B1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1E377-2CEC-4339-843A-89647371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288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F9BB1-C3D8-4F4D-B43D-70139449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43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Selective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A433F-5639-4642-B40B-E3CE14A7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67125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critic acceptance before 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21E69-5D2A-42FB-A34B-28770BE3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5D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371BF-6F62-49CB-813A-18D0BF0C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43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B2515-25F3-4F54-A7CD-D13D438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43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6A2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96A22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DC88D-98BF-42DE-A960-B0449497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4350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F0DB8-724D-406A-A801-71B351A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43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ERROR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9C715-CA54-415D-842C-DDB7CAF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43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43D2C"/>
                </a:solidFill>
                <a:latin typeface="Arial"/>
                <a:ea typeface="Arial"/>
                <a:cs typeface="Arial"/>
              </a:rPr>
              <a:t>3 typed terminal correction/cache failures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81606C-4E0E-412F-A54A-8EF48F0C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A selective system must report coverage—otherwise answering less can look deceptively strong.</a:t>
            </a:r>
          </a:p>
        </p:txBody>
      </p:sp>
    </p:spTree>
    <p:extLst>
      <p:ext uri="{BB962C8B-B14F-4D97-AF65-F5344CB8AC3E}">
        <p14:creationId xmlns:p14="http://schemas.microsoft.com/office/powerpoint/2010/main" val="1722257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11407-87CD-4B0F-8EC6-360FCF8F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PROOF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C9BD3-78B9-4356-8DF7-0C715DDD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explanation is a projection of checked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1239E-5C60-44A3-B66A-D708A6E0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619375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5429250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8239125" y="3286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3F555-CEAE-4ECB-B228-B4B3E1AC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00FBF-5369-4579-9AE1-9233D15D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432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Source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0D5A7-D0B4-4583-B957-3A640080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99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exact sentence 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DC683-6D41-46AB-A221-367B4DD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765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6DB2F-45C6-4EFF-B4BE-1657E19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432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Rule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CF943-B941-4143-B1AE-2F1B34C7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99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grounded substitutions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1FC02-0116-4928-AA23-A5CFC8FC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765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DBAEC-387F-43C7-B098-88B497B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432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Canonical proof DAG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F6DBD-C9C7-42D5-92B3-F7BB3D3C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099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stable SHA-256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4BDC3-F763-43D3-B50A-B06983BC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E7210-63A5-4C51-9096-18E41B43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1657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Independent 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98975-603A-4CC9-8090-54312D39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099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naive closure verifier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C6138A-15B7-40F3-8C44-D1013487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Every published Phase 9 neuro-symbolic proof verified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A33D7-FC79-47D8-AF7A-AF0F35BF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P0 5/5 · validation 5/5 · P1 3/3 · P2 1/1 · oracle 30/30</a:t>
            </a:r>
          </a:p>
        </p:txBody>
      </p:sp>
    </p:spTree>
    <p:extLst>
      <p:ext uri="{BB962C8B-B14F-4D97-AF65-F5344CB8AC3E}">
        <p14:creationId xmlns:p14="http://schemas.microsoft.com/office/powerpoint/2010/main" val="6399751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55732-E111-4520-BA91-9D196733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PRODUCT SURFACES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DCAFC-797C-4F28-8D39-63724A31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research prototype exposes reasoning and evidence—not a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D3CE6-6DBC-48BE-8820-3A57B3C6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806EC-F39D-4360-9479-BB586951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F9BC8-2849-4C1E-B037-9914A9F9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Workbench · 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B2417-E6F5-44FA-9EC1-A39540D3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041E1-83E2-4DC9-9405-2EB50C7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natural-language and formal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E0C9A-2CB5-493B-9BB6-BBE9A60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49405-B42D-4A99-A202-6D15E60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P0 / P1 / P2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0B4A6-643F-4157-B2F9-9B808464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052AF-B677-4562-862A-9CC68952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909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stage trace and typed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9071B-2C24-4747-8DB9-44CC480F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DB1D2-43E6-44D7-8752-CF633949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862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proof, explanation, provenance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F7E67-AB8B-459E-97A4-F13A47E9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3149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419CF-81D9-40A1-B76C-D8990F7B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· /research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886F5-B55F-4D10-92E8-B02363C6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765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015767-3F16-41EF-9072-E57E857E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19 experiments, 10 comparisons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2AE6D-A23C-4791-8D15-4D7BD7FE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718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A73F4F-6A2E-4E68-9B6E-89352D57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956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accuracy paired with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424CF-85CA-4D94-88A9-3E1AA5BD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67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75BA8-C335-4402-BFDF-DC8E17E6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exact tables and parser attrition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4C901D-2CF3-46D8-966E-E6098FC6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24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F8955-0DF9-4C34-842D-FAD6788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862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JSON / CSV / Markdown exports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093E1-4913-473D-B946-2C7F09FA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Both routes run with Ollama stopped when using formal mode and tracked catalogue evidence.</a:t>
            </a:r>
          </a:p>
        </p:txBody>
      </p:sp>
    </p:spTree>
    <p:extLst>
      <p:ext uri="{BB962C8B-B14F-4D97-AF65-F5344CB8AC3E}">
        <p14:creationId xmlns:p14="http://schemas.microsoft.com/office/powerpoint/2010/main" val="54535955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AED88-6C11-42A7-BF47-09101A00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EXPERIMENTAL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37575-8C8A-4F58-8E80-51DBEBD3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34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One frozen development selection anchors every Phase 9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207C0-D366-405B-BFA3-601D3D43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2476500" y="3286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714875" y="3286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953250" y="3286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9191625" y="32861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9945A-76EF-472E-8DEA-962EBA3F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01C2D-8E85-4335-9878-F0A3CF33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DA520-FE0D-4048-9DCB-B7CF29AD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5B83D-F02E-4C34-A34D-DF410DB7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ProofWriter</a:t>
            </a:r>
          </a:p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V2020.12.3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313FE-2014-4E9E-B04A-F65DFA32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79167-BA7D-4FD3-A9DF-2F0CFEC5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1A578-0C69-424C-9B4D-4BFC726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F4189-569F-48B9-8917-8E9DA50E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7662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30 development</a:t>
            </a:r>
          </a:p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seed 20260818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FABD9-61E1-47D1-9142-08BAE118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D6727-1014-44C0-A0C4-9636DDAC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986F4-8FB5-43C4-A08F-67565B4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33A26-C27C-43A2-B73A-9AD66B49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5 depths ×</a:t>
            </a:r>
          </a:p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3 labels ×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30B9E-7501-48E1-AFA3-AAEAF9FA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1F1F3-33E0-491F-AB44-2A7B63FD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A0EF4-2AEE-4926-B23A-4B7818C1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Few-shot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070473-2A13-4B6A-B470-7772F2D0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7662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6 train-only</a:t>
            </a:r>
          </a:p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overlap 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7F5554-B210-403E-9456-8C40459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5B175-9A80-4E30-98B8-43BE7F37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14625"/>
            <a:ext cx="1714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85CE7-1669-4868-BA43-0DFF1EFE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28228-239E-47D0-B136-81649460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76625"/>
            <a:ext cx="1409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local 4B</a:t>
            </a:r>
          </a:p>
          <a:p xmlns:a="http://schemas.openxmlformats.org/drawingml/2006/main">
            <a:pPr algn="l">
              <a:defRPr sz="13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exact digest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8D33D7-F2AC-42E4-B969-EB71085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DEVELOPMENT ONLY · TEST-SPLIT ACCESS 0 · NO SIGNIFICANCE CLAIM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1A66F3-DF75-4F64-83C5-1AE9CA27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Freeze c7039474c7f45227… · archive bbc5694901e8306d…</a:t>
            </a:r>
          </a:p>
        </p:txBody>
      </p:sp>
    </p:spTree>
    <p:extLst>
      <p:ext uri="{BB962C8B-B14F-4D97-AF65-F5344CB8AC3E}">
        <p14:creationId xmlns:p14="http://schemas.microsoft.com/office/powerpoint/2010/main" val="13584326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7E7E9-004F-437A-A855-AC24BECE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E2327-76E6-442E-B94A-40A1773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Seven conditions isolate prompting, validation, correction, selection, and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CA14A-9C8E-4E91-8B17-8177734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85737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2095500"/>
                <a:gridCol w="2190750"/>
                <a:gridCol w="4914900"/>
              </a:tblGrid>
              <a:tr h="5000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Intervention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measures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Direct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Natural language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Three-label local LLM baseline</a:t>
                      </a:r>
                    </a:p>
                  </a:txBody>
                  <a:tcPr marL="66675" marR="66675" marT="57150" marB="5715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Few-shot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Natural language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+ 6 demos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Demonstration effect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Natural language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Raw AST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Parser + solver without correction</a:t>
                      </a:r>
                    </a:p>
                  </a:txBody>
                  <a:tcPr marL="66675" marR="66675" marT="57150" marB="5715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Natural language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Reject invalid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Failure handling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Natural language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+ one correction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Corrected-valid release</a:t>
                      </a:r>
                    </a:p>
                  </a:txBody>
                  <a:tcPr marL="66675" marR="66675" marT="57150" marB="57150"/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Natural language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+ critic gate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Selective release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Oracle ceiling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Formal structure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No parser/model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Symbolic component ceiling</a:t>
                      </a:r>
                    </a:p>
                  </a:txBody>
                  <a:tcPr marL="66675" marR="66675" marT="57150" marB="57150"/>
                </a:tc>
              </a:tr>
            </a:tbl>
          </a:graphicData>
        </a:graphic>
      </p:graphicFrame>
      <p:cxnSp>
        <p:nvCxnSpPr>
          <p:cNvPr id="11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F773-1517-4FAF-93BB-42E9ABDD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Oracle uses the same selections but a different representation; it is not a paired natural-language result.</a:t>
            </a:r>
          </a:p>
        </p:txBody>
      </p:sp>
    </p:spTree>
    <p:extLst>
      <p:ext uri="{BB962C8B-B14F-4D97-AF65-F5344CB8AC3E}">
        <p14:creationId xmlns:p14="http://schemas.microsoft.com/office/powerpoint/2010/main" val="2975505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7699-DD3B-49C8-B5DC-17C7D72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MAIN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21C15-48D6-407D-B51F-93B74803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Direct and few-shot lead; selective neuro-symbolic coverage collapses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C5B89-5490-489E-833F-99CF047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1285875"/>
                <a:gridCol w="1285875"/>
                <a:gridCol w="1428750"/>
                <a:gridCol w="1143000"/>
                <a:gridCol w="1524000"/>
                <a:gridCol w="1524000"/>
              </a:tblGrid>
              <a:tr h="4881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Correct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Answered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Abstained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Errors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Proofs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Direct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16/30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66675" marR="66675" marT="57150" marB="5715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Few-shot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16/30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4/30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16.67%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5/5</a:t>
                      </a:r>
                    </a:p>
                  </a:txBody>
                  <a:tcPr marL="66675" marR="66675" marT="57150" marB="5715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4/30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16.67%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5/5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2/30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3/3</a:t>
                      </a:r>
                    </a:p>
                  </a:txBody>
                  <a:tcPr marL="66675" marR="66675" marT="57150" marB="57150"/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1/30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3.33%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1/1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Oracle ceiling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30/30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30/30</a:t>
                      </a:r>
                    </a:p>
                  </a:txBody>
                  <a:tcPr marL="66675" marR="66675" marT="57150" marB="57150"/>
                </a:tc>
              </a:tr>
            </a:tbl>
          </a:graphicData>
        </a:graphic>
      </p:graphicFrame>
      <p:cxnSp>
        <p:nvCxnSpPr>
          <p:cNvPr id="11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D0B91-B674-4E71-9E16-C267D983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n=30 development · accuracy must be read with coverage · P2 answered-only 100% = 1 answer</a:t>
            </a:r>
          </a:p>
        </p:txBody>
      </p:sp>
    </p:spTree>
    <p:extLst>
      <p:ext uri="{BB962C8B-B14F-4D97-AF65-F5344CB8AC3E}">
        <p14:creationId xmlns:p14="http://schemas.microsoft.com/office/powerpoint/2010/main" val="3572179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89FCE-1A9A-4425-A162-D9396B1A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PAIRED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F3C48-B028-4776-AA09-55722B45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Few-shot changes which examples are right; correction does not improve aggregate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A8903-96B3-4ECE-B423-553E2B43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285875"/>
                <a:gridCol w="1285875"/>
                <a:gridCol w="1285875"/>
                <a:gridCol w="1285875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Both correct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 only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Changed only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Both incorrect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Direct → Few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66675" marR="66675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P0 → Validation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P0 → P1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66675" marR="66675" marT="57150" marB="5715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P1 → P2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AF2C-A719-431C-BAB5-90AC75F6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32670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5C331-7514-483E-900F-FEF1F87B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changed?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81E94-3935-4BD0-AA96-6A93EB5E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00375"/>
            <a:ext cx="2571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Few-shot</a:t>
            </a:r>
          </a:p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2 Direct-only + 2 Few-only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25 errors → abstentions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P1 / P2</a:t>
            </a:r>
          </a:p>
          <a:p xmlns:a="http://schemas.openxmlformats.org/drawingml/2006/main">
            <a:pPr algn="l">
              <a:defRPr sz="1425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lower accuracy and coverage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E5C11-F3B8-47B6-87BA-779B79C0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Paired descriptive outcomes only · no statistical significance or causal superiority claim</a:t>
            </a:r>
          </a:p>
        </p:txBody>
      </p:sp>
    </p:spTree>
    <p:extLst>
      <p:ext uri="{BB962C8B-B14F-4D97-AF65-F5344CB8AC3E}">
        <p14:creationId xmlns:p14="http://schemas.microsoft.com/office/powerpoint/2010/main" val="5371610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43C7E-02A9-42ED-A917-B754FC12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 FINDING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2C21D-83DC-4C2B-90A9-F77E29F6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Verified reasoning is strong only after semantic formalization succeeds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6A4B8-AB6E-4E5F-8ED7-C1E2D4B0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86418-E252-4193-8867-7ECE4D3E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Language → AST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D47EC-DC72-4613-9A71-43CFE5BF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5/30 valid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6DED3-743A-45ED-AF6A-6E78A01D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parser acceptance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4D288-3AAF-4198-8E84-0B897C0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Validated AST →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F48E0-2B47-4F32-A8CC-68F80418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5/5 verified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3D535-94C7-4CBC-A09E-0FA2873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14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attempted P0 proofs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EDC49-52A0-41AD-8748-FC739A74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6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Oracle formal →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6C10-A5C5-4C00-AD76-091C916F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30/30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BD524-D7A6-4989-BA03-DC0D36F6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correct · different-representation ceiling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0E0B1A-525A-4AEB-87D4-FD4A8F09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625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next improvement target is the semantic parser—not more complex symbolic inference.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48156-FA1D-4080-A418-4403406F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Negative results localize the engineering problem instead of hiding it.</a:t>
            </a:r>
          </a:p>
        </p:txBody>
      </p:sp>
    </p:spTree>
    <p:extLst>
      <p:ext uri="{BB962C8B-B14F-4D97-AF65-F5344CB8AC3E}">
        <p14:creationId xmlns:p14="http://schemas.microsoft.com/office/powerpoint/2010/main" val="18753778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28EAE-1457-4638-A0EF-0ED56578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ORACLE CEILING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C6DA8-29A2-4645-91B0-266B51C7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0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Perfect formal input exposes the available symbolic headroom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0516C-5FD3-497A-B34C-701E4CE1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D06E2-7CC2-44F0-83E4-0E6F0738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76E5B-34E1-40AE-A4E4-425B189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P2 natural-language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8B493-D956-4ADC-8240-5A77B7E6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1/30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5F9AA-F36E-45ED-863E-9CDEBF38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correct · coverage 1/30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49CFC-6E19-49C9-99B3-F8F37E6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55054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1EDEC-DA5C-4F44-BAF9-E76FC0AC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452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Formal symbolic ceiling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508D1-8169-4C1C-80CA-24519BA4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4800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30/30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458A0-BFC5-4430-BA19-6F63D383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correct · 30/30 proofs · 0 model calls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E7CC2-298D-41A2-A5DB-4C574C57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SAME SELECTION · DIFFERENT REPRESENTATION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7F820-E73A-4BAF-BF3E-F8099767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This ceiling is not natural-language system performance and is not a paired superiority claim.</a:t>
            </a:r>
          </a:p>
        </p:txBody>
      </p:sp>
    </p:spTree>
    <p:extLst>
      <p:ext uri="{BB962C8B-B14F-4D97-AF65-F5344CB8AC3E}">
        <p14:creationId xmlns:p14="http://schemas.microsoft.com/office/powerpoint/2010/main" val="208380612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62378-7893-4E14-BB34-28CC2DD0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REPRODUCIBILITY AND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997FC-0325-4FEC-AAF6-55D626CF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frozen evidence replays locally with no provider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89A5-B029-42DB-AF46-0A0F707D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F1791-26C4-4E67-B7E8-14977A9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7F60E-1548-4C08-B199-3A86FEED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local dispatches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4750D-CDE0-436A-A048-672C394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57114-E9AF-4AFE-9BBB-8BBA630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hosted calls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4FBC4-3528-46DD-A715-1DCFAC2A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F8D49-A97B-4FB7-AA42-E3D36F29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external transfers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F7333-96F7-4271-B13A-43C88D6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$0.00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E91F1-D450-4519-B500-E35A6630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paid API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C0025-E322-4F99-AEDA-D149E95D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E6B57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45BE1-D1B4-4441-B8DA-F0EBC2E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test-split access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400050" y="3667125"/>
          <a:ext xmlns:a="http://schemas.openxmlformats.org/drawingml/2006/main" cx="82867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714625"/>
                <a:gridCol w="2714625"/>
              </a:tblGrid>
              <a:tr h="3810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tokens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 tokens</a:t>
                      </a:r>
                    </a:p>
                  </a:txBody>
                  <a:tcPr marL="66675" marR="66675" marT="66675" marB="66675">
                    <a:solidFill>
                      <a:srgbClr val="0B111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Direct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10,711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351</a:t>
                      </a:r>
                    </a:p>
                  </a:txBody>
                  <a:tcPr marL="66675" marR="66675" marT="57150" marB="5715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Few-shot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48,301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243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P0 / validation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39,562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34,277</a:t>
                      </a:r>
                    </a:p>
                  </a:txBody>
                  <a:tcPr marL="66675" marR="66675" marT="57150" marB="5715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P1 / P2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 · lower bound 127,252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NA · lower bound 62,249</a:t>
                      </a:r>
                    </a:p>
                  </a:txBody>
                  <a:tcPr marL="66675" marR="66675" marT="57150" marB="57150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Oracle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11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66675" marR="66675" marT="57150" marB="57150"/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FDE53-0396-4B96-A4B4-34D926D5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23145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93C1D-39EF-43F9-9721-8D78C785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STRICT 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1E921-AFC7-4E54-A449-094E3A25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Ollama stopped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all logical entries resolved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zero new inference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D85EA-64EE-439E-9263-22B0AD2C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P1/P2 exact token totals remain unavailable—missing telemetry is never shown as zero.</a:t>
            </a:r>
          </a:p>
        </p:txBody>
      </p:sp>
    </p:spTree>
    <p:extLst>
      <p:ext uri="{BB962C8B-B14F-4D97-AF65-F5344CB8AC3E}">
        <p14:creationId xmlns:p14="http://schemas.microsoft.com/office/powerpoint/2010/main" val="36771308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788769-B763-4804-9404-535C6266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DEPLOYMENT AND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04900-9FFA-4A10-8D98-AFDC439E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9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A local production build supports a fast provider-free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DA677-0B53-4CB1-92F4-F1B4623E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2524125" y="3238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5715000" y="3238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8905875" y="32385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111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DC349-85F5-40FD-A81D-A1A3A6FE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047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9266A-6B6B-4DEE-9FA1-2E7AB03C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1940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6F3E8-9B31-49F8-B4AA-47903B63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52800"/>
            <a:ext cx="1743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:3000</a:t>
            </a:r>
          </a:p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workbench + research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013C0-0621-4B76-A160-23E99A1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2047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4408A-A89F-4D04-8595-D7C40A15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1940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1892B-5321-4CEA-A957-C665979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743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:8000</a:t>
            </a:r>
          </a:p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cache-only mode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BC348-85B1-4B19-B7EF-2F8CAB7A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71750"/>
            <a:ext cx="2047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E8B6B-70E3-46BF-AB4F-B9139CD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174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Formal 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91407-17F5-49D4-92C3-8A09CB24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352800"/>
            <a:ext cx="1743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reason → proof → 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72F75-38AA-4130-8B1C-0F7241AE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5595F-BC6B-4194-9B89-80790811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1940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3625D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6BAB1-561B-4BC3-B059-E8277FC8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52800"/>
            <a:ext cx="1504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:11434</a:t>
            </a:r>
          </a:p>
          <a:p xmlns:a="http://schemas.openxmlformats.org/drawingml/2006/main">
            <a:pPr algn="ctr">
              <a:defRPr sz="127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optional / stopped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BD40C-B89D-49B7-911D-DACADC34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Verified smoke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6EE78-6F39-4702-A084-E24A0B98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/health · catalogue · experiment · exports · / · /research · ENTAILED proof · CORS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18C63-9FAF-4DB8-B437-CF6803D6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Docker static validation only · no public cloud deployment · no paid resource</a:t>
            </a:r>
          </a:p>
        </p:txBody>
      </p:sp>
    </p:spTree>
    <p:extLst>
      <p:ext uri="{BB962C8B-B14F-4D97-AF65-F5344CB8AC3E}">
        <p14:creationId xmlns:p14="http://schemas.microsoft.com/office/powerpoint/2010/main" val="10650077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9410DA-4064-4DF6-8BE7-6562AEA3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C3647-2CD1-4B17-8B8A-25B1996A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evidence is useful because the boundaries are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65992-658E-4B06-9460-05813D1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A06FA-A018-4A5F-BAD8-69D782B6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2436B-33AE-431E-B2F2-E6F325EC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30 development examples only; no test-set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ACF4C-39AA-4514-8B88-C18D52DD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EF5B4-A87F-4588-8652-390FB1AB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No statistical-superiority or state-of-the-art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98143-D86F-45B5-843F-21E6E59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43D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43D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A7878-F098-4581-9A0D-8E3C49C4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Local 4B semantic parser is the main bottleneck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C2068-7B3E-44B5-8D3D-1BF73B2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23200-45FA-453C-8665-ABCBC45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051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P1/P2 exact token totals are unavailable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A9F5B-819F-40A1-87EE-9348E0D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D4538-DD4E-41C5-8AF4-6E3F590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Three typed terminal correction/cache failures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38E48-EEE7-4848-96C6-7E929E0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57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79BB1-57E3-48A9-89BC-17708740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Formal oracle is not natural-language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0ACD29-7524-4F31-B9BE-802DACA0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7EC50-7864-4D46-9172-637D3EF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ProofWriter licence remains unverified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C6C02-33EC-4565-B9FD-2BC73E4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0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4C352-3416-4F96-BBA3-AB782AC7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0125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110"/>
                </a:solidFill>
                <a:latin typeface="Arial"/>
                <a:ea typeface="Arial"/>
                <a:cs typeface="Arial"/>
              </a:rPr>
              <a:t>Local single-user deployment; no public hardening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64674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6ADAD-0653-40D7-A4C7-CA0FBA14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43675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Missing evidence stays NA; failed records remain visible; historical experiments are not rewritten.</a:t>
            </a:r>
          </a:p>
        </p:txBody>
      </p:sp>
    </p:spTree>
    <p:extLst>
      <p:ext uri="{BB962C8B-B14F-4D97-AF65-F5344CB8AC3E}">
        <p14:creationId xmlns:p14="http://schemas.microsoft.com/office/powerpoint/2010/main" val="25740679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60591-0D05-4968-AF49-72C82955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0FBA2-55A7-4B96-9293-1B891F2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The system proves its reasoning boundary—and identifies the next research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76049-C431-48C0-86D1-CD8F1BE7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2FEC9-2236-45D3-B13B-4C0F966A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6C4A-ADEE-41FB-AD4C-8C69AAE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478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Verified reasoning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0211C-4C19-4CCC-A230-7A0508D3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05075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When formalization is correct, every published answer carries an independently verified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F5A9E-C706-4A97-8DA4-30459635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3FEAE-7F1D-42A3-8CF0-2ABD07D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Fail-closed behavior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98B19-7B5B-4790-AA8D-055AAB0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90950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Validation converts unsafe formalizations into visible abstentions or errors instead of logical guesses.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9DAC7-67CF-4D35-A231-08498E9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77270-130A-4C50-8C29-10744D5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9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Parsing is the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57D12-881D-48B5-B735-8DF9303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76825"/>
            <a:ext cx="847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25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25D"/>
                </a:solidFill>
                <a:latin typeface="Arial"/>
                <a:ea typeface="Arial"/>
                <a:cs typeface="Arial"/>
              </a:rPr>
              <a:t>Improve training-only semantic formalization before adding more solver complexity or claiming end-to-end gains.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1C650-630A-4E03-804C-EFCF220D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1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110"/>
                </a:solidFill>
                <a:latin typeface="Arial"/>
                <a:ea typeface="Arial"/>
                <a:cs typeface="Arial"/>
              </a:rPr>
              <a:t>VeriLogic-NS / NeuroSym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1BC91-B00B-4396-ACC7-DDB50F3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905500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E6B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6B57"/>
                </a:solidFill>
                <a:latin typeface="Arial"/>
                <a:ea typeface="Arial"/>
                <a:cs typeface="Arial"/>
              </a:rPr>
              <a:t>Implementation roadmap complete through Phase 10</a:t>
            </a:r>
          </a:p>
        </p:txBody>
      </p:sp>
    </p:spTree>
    <p:extLst>
      <p:ext uri="{BB962C8B-B14F-4D97-AF65-F5344CB8AC3E}">
        <p14:creationId xmlns:p14="http://schemas.microsoft.com/office/powerpoint/2010/main" val="1810944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2026-08-26T18:34:37.4960000Z</dcterms:created>
  <dcterms:modified xsi:type="dcterms:W3CDTF">2026-08-26T18:34:37.4960000Z</dcterms:modified>
</coreProperties>
</file>